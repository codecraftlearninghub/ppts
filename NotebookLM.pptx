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281" r:id="rId7"/>
    <p:sldId id="307" r:id="rId8"/>
    <p:sldId id="323" r:id="rId9"/>
    <p:sldId id="282" r:id="rId10"/>
    <p:sldId id="326" r:id="rId11"/>
    <p:sldId id="325" r:id="rId12"/>
    <p:sldId id="314" r:id="rId13"/>
    <p:sldId id="317" r:id="rId14"/>
    <p:sldId id="327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8C8C"/>
    <a:srgbClr val="202C8F"/>
    <a:srgbClr val="FDFBF6"/>
    <a:srgbClr val="AAC4E9"/>
    <a:srgbClr val="F5CDCE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105" d="100"/>
          <a:sy n="105" d="100"/>
        </p:scale>
        <p:origin x="834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B7B13-812E-6757-DA8E-8010253C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411F3-D726-6129-E3CD-E345C57F9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CFA7B-4044-6C77-A7CE-BDFC788B7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042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9E604-BEA9-1257-11D0-3CA8D6C8E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DEFC0-22CB-B0F0-DF25-9E2C79D51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F4F70-A098-AD39-DA9D-4A23B5910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726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C1109-6A9D-2A6A-5C5B-F2F4ABD5D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02A78-51C6-517A-F10F-FF0C6C822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18692-C33C-955C-AAE4-4D6DFC8FA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636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86702-3F01-E5AF-226C-D716CEA90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0CEC4-5992-D3D0-6019-E5EBBF91C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10B68-ABAA-2B22-2E50-127EB2135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44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B584998-7558-DCC5-3898-22AF6600D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688" y="-91440"/>
            <a:ext cx="4858512" cy="485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199"/>
            <a:ext cx="6583680" cy="622671"/>
          </a:xfrm>
        </p:spPr>
        <p:txBody>
          <a:bodyPr/>
          <a:lstStyle/>
          <a:p>
            <a:r>
              <a:rPr lang="en-US" cap="none" dirty="0"/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632" y="1280161"/>
            <a:ext cx="8577072" cy="512064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IN" dirty="0"/>
              <a:t>Creating Your First Notebook</a:t>
            </a:r>
          </a:p>
          <a:p>
            <a:r>
              <a:rPr lang="en-IN" dirty="0"/>
              <a:t>Adding Knowledge Sources</a:t>
            </a:r>
          </a:p>
          <a:p>
            <a:r>
              <a:rPr lang="en-IN" dirty="0"/>
              <a:t>Asking Better Questions</a:t>
            </a:r>
          </a:p>
          <a:p>
            <a:r>
              <a:rPr lang="en-IN" dirty="0"/>
              <a:t>	Summaries, </a:t>
            </a:r>
          </a:p>
          <a:p>
            <a:r>
              <a:rPr lang="en-IN" dirty="0"/>
              <a:t>	Notes &amp; Study Guides</a:t>
            </a:r>
          </a:p>
          <a:p>
            <a:r>
              <a:rPr lang="en-US" dirty="0"/>
              <a:t>	Audio</a:t>
            </a:r>
          </a:p>
          <a:p>
            <a:r>
              <a:rPr lang="en-US" dirty="0"/>
              <a:t>	Video</a:t>
            </a:r>
          </a:p>
          <a:p>
            <a:r>
              <a:rPr lang="en-US" dirty="0"/>
              <a:t>	Slide deck</a:t>
            </a:r>
          </a:p>
          <a:p>
            <a:r>
              <a:rPr lang="en-US" dirty="0"/>
              <a:t>	mind maps,</a:t>
            </a:r>
          </a:p>
          <a:p>
            <a:r>
              <a:rPr lang="en-US" dirty="0"/>
              <a:t>	Reports</a:t>
            </a:r>
          </a:p>
          <a:p>
            <a:r>
              <a:rPr lang="en-US" dirty="0"/>
              <a:t>	Flashcards, </a:t>
            </a:r>
          </a:p>
          <a:p>
            <a:r>
              <a:rPr lang="en-US" dirty="0"/>
              <a:t>	Quiz </a:t>
            </a:r>
          </a:p>
          <a:p>
            <a:r>
              <a:rPr lang="en-US" dirty="0"/>
              <a:t>	Infographics..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235" y="2416217"/>
            <a:ext cx="5971032" cy="1101710"/>
          </a:xfrm>
        </p:spPr>
        <p:txBody>
          <a:bodyPr/>
          <a:lstStyle/>
          <a:p>
            <a:r>
              <a:rPr lang="en-US" cap="none" dirty="0"/>
              <a:t>Let’s Get Started</a:t>
            </a:r>
            <a:endParaRPr lang="en-US" cap="none" dirty="0">
              <a:solidFill>
                <a:schemeClr val="tx1"/>
              </a:solidFill>
            </a:endParaRP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226" y="1106608"/>
            <a:ext cx="5581255" cy="1658495"/>
          </a:xfrm>
        </p:spPr>
        <p:txBody>
          <a:bodyPr/>
          <a:lstStyle/>
          <a:p>
            <a:r>
              <a:rPr lang="en-US" cap="none" dirty="0"/>
              <a:t>What Is </a:t>
            </a:r>
            <a:r>
              <a:rPr lang="en-IN" cap="none" dirty="0"/>
              <a:t>NotebookLM</a:t>
            </a:r>
            <a:endParaRPr lang="en-US" cap="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69079-1B7D-7948-C741-4AE496596EFC}"/>
              </a:ext>
            </a:extLst>
          </p:cNvPr>
          <p:cNvSpPr txBox="1"/>
          <p:nvPr/>
        </p:nvSpPr>
        <p:spPr>
          <a:xfrm>
            <a:off x="1923195" y="2613165"/>
            <a:ext cx="8102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	NotebookLM is Google's AI-powered research assistant that answers questions using only your uploaded documents.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AAD7C-0DB5-33BA-0485-AE3E811B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03E67-67B0-EE50-4173-73BE48502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754" y="595292"/>
            <a:ext cx="7672738" cy="1209695"/>
          </a:xfrm>
        </p:spPr>
        <p:txBody>
          <a:bodyPr/>
          <a:lstStyle/>
          <a:p>
            <a:r>
              <a:rPr lang="en-IN" cap="none" dirty="0"/>
              <a:t>Adding Knowledge Sources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4647BD-A018-B14F-8595-9BA6C7D60B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581"/>
          <a:stretch>
            <a:fillRect/>
          </a:stretch>
        </p:blipFill>
        <p:spPr>
          <a:xfrm>
            <a:off x="1407678" y="1804987"/>
            <a:ext cx="9493613" cy="317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02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0572" y="136734"/>
            <a:ext cx="8463211" cy="630242"/>
          </a:xfrm>
        </p:spPr>
        <p:txBody>
          <a:bodyPr/>
          <a:lstStyle/>
          <a:p>
            <a:r>
              <a:rPr lang="en-IN" cap="none" dirty="0"/>
              <a:t>Analysing Pdfs With </a:t>
            </a:r>
            <a:r>
              <a:rPr lang="en-IN" cap="none" dirty="0" err="1"/>
              <a:t>Notebooklm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3438" y="985034"/>
            <a:ext cx="8463210" cy="89737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	Google NotebookLM can turn lengthy PDF documents into an </a:t>
            </a:r>
            <a:r>
              <a:rPr lang="en-IN" b="1" dirty="0"/>
              <a:t>interactive knowledge source</a:t>
            </a:r>
            <a:r>
              <a:rPr lang="en-IN" dirty="0"/>
              <a:t>. Instead of reading an entire PDF manually, you can upload it and ask questions directly based on its content.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C8499E-2F58-EC0F-7197-96D3489740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91"/>
          <a:stretch>
            <a:fillRect/>
          </a:stretch>
        </p:blipFill>
        <p:spPr>
          <a:xfrm>
            <a:off x="3818375" y="1992343"/>
            <a:ext cx="7159594" cy="485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31C8B-7F3E-88DB-E8E0-2037925C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F2FF1BC-C29F-5399-DD99-5A26089BA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92" y="361812"/>
            <a:ext cx="9042833" cy="630242"/>
          </a:xfrm>
        </p:spPr>
        <p:txBody>
          <a:bodyPr/>
          <a:lstStyle/>
          <a:p>
            <a:r>
              <a:rPr lang="en-IN" cap="none" dirty="0"/>
              <a:t>Generating Social Media Posts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5426C4E-B78B-C5C8-3B4D-C0588B19C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692" y="1305147"/>
            <a:ext cx="8463210" cy="89737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	NotebookLM can help transform your </a:t>
            </a:r>
            <a:r>
              <a:rPr lang="en-IN" b="1" dirty="0"/>
              <a:t>documents, newsletters, reports, or research content into engaging social media posts</a:t>
            </a:r>
            <a:r>
              <a:rPr lang="en-IN" dirty="0"/>
              <a:t>. Instead of creating content from scratch, you can provide your source material and ask NotebookLM to adapt the key ideas for different platforms.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324CE6-0E41-EF1F-0C6D-28CC0BD98E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43" b="13593"/>
          <a:stretch>
            <a:fillRect/>
          </a:stretch>
        </p:blipFill>
        <p:spPr>
          <a:xfrm>
            <a:off x="1180464" y="2202519"/>
            <a:ext cx="6679894" cy="454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6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373F-501A-D3C4-4724-EDA83D3F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6DB3-09E3-BD0A-8C06-F65FD2DC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512" y="559975"/>
            <a:ext cx="9042833" cy="630242"/>
          </a:xfrm>
        </p:spPr>
        <p:txBody>
          <a:bodyPr/>
          <a:lstStyle/>
          <a:p>
            <a:r>
              <a:rPr lang="en-IN" cap="none" dirty="0"/>
              <a:t>Summarizing A Newsletter With </a:t>
            </a:r>
            <a:r>
              <a:rPr lang="en-IN" cap="none" dirty="0" err="1"/>
              <a:t>Notebooklm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B5374-8757-40F6-F344-59EB0F4C2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3438" y="1197056"/>
            <a:ext cx="8463210" cy="89737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	NotebookLM can quickly transform a </a:t>
            </a:r>
            <a:r>
              <a:rPr lang="en-IN" b="1" dirty="0"/>
              <a:t>long newsletter into a concise summary</a:t>
            </a:r>
            <a:r>
              <a:rPr lang="en-IN" dirty="0"/>
              <a:t>, helping you understand the most important updates without reading every section.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2F69C-3F4F-8504-051F-5631717A74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433" b="6428"/>
          <a:stretch>
            <a:fillRect/>
          </a:stretch>
        </p:blipFill>
        <p:spPr>
          <a:xfrm>
            <a:off x="3590174" y="2094427"/>
            <a:ext cx="7253508" cy="437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64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4206" y="-140913"/>
            <a:ext cx="5704224" cy="834291"/>
          </a:xfrm>
        </p:spPr>
        <p:txBody>
          <a:bodyPr/>
          <a:lstStyle/>
          <a:p>
            <a:r>
              <a:rPr lang="en-US" cap="none" dirty="0"/>
              <a:t>Conclusions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762FE-219E-B64A-64DC-21604DF17DEA}"/>
              </a:ext>
            </a:extLst>
          </p:cNvPr>
          <p:cNvSpPr txBox="1"/>
          <p:nvPr/>
        </p:nvSpPr>
        <p:spPr>
          <a:xfrm>
            <a:off x="4258486" y="929556"/>
            <a:ext cx="7437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NotebookLM is a powerful AI-powered research and learning assistant that helps users </a:t>
            </a:r>
            <a:r>
              <a:rPr lang="en-IN" b="1" dirty="0"/>
              <a:t>understand, analyse, summarize, and interact with their own documents</a:t>
            </a:r>
            <a:r>
              <a:rPr lang="en-IN" dirty="0"/>
              <a:t>. It can turn PDFs, notes, reports, newsletters, and other sources into useful insights and actionable content.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BC7C1-163E-A000-11B9-22FCECB47CF1}"/>
              </a:ext>
            </a:extLst>
          </p:cNvPr>
          <p:cNvSpPr txBox="1"/>
          <p:nvPr/>
        </p:nvSpPr>
        <p:spPr>
          <a:xfrm>
            <a:off x="4837813" y="2707170"/>
            <a:ext cx="70281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Takeaways:</a:t>
            </a:r>
            <a:endParaRPr lang="en-IN" dirty="0"/>
          </a:p>
          <a:p>
            <a:pPr lvl="0"/>
            <a:r>
              <a:rPr lang="en-IN" dirty="0"/>
              <a:t>	📚 Understand lengthy documents quickly </a:t>
            </a:r>
          </a:p>
          <a:p>
            <a:pPr lvl="0"/>
            <a:r>
              <a:rPr lang="en-IN" dirty="0"/>
              <a:t>	🔍 Ask questions and find relevant information </a:t>
            </a:r>
          </a:p>
          <a:p>
            <a:pPr lvl="0"/>
            <a:r>
              <a:rPr lang="en-IN" dirty="0"/>
              <a:t>	📝 Generate summaries, notes, and reports </a:t>
            </a:r>
          </a:p>
          <a:p>
            <a:pPr lvl="0"/>
            <a:r>
              <a:rPr lang="en-IN" dirty="0"/>
              <a:t>	💡 Extract insights and important ideas </a:t>
            </a:r>
          </a:p>
          <a:p>
            <a:pPr lvl="0"/>
            <a:r>
              <a:rPr lang="en-IN" dirty="0"/>
              <a:t>	📱 Convert information into social media content </a:t>
            </a:r>
          </a:p>
          <a:p>
            <a:pPr lvl="0"/>
            <a:r>
              <a:rPr lang="en-IN" dirty="0"/>
              <a:t>	🎯 Support learning, research, and productivity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8DF7F-F115-1AD6-A885-5DB69F893489}"/>
              </a:ext>
            </a:extLst>
          </p:cNvPr>
          <p:cNvSpPr txBox="1"/>
          <p:nvPr/>
        </p:nvSpPr>
        <p:spPr>
          <a:xfrm>
            <a:off x="4114800" y="5374446"/>
            <a:ext cx="775113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Overall:</a:t>
            </a:r>
            <a:r>
              <a:rPr lang="en-IN" dirty="0"/>
              <a:t> </a:t>
            </a:r>
          </a:p>
          <a:p>
            <a:r>
              <a:rPr lang="en-IN" dirty="0"/>
              <a:t>	NotebookLM helps users move from  </a:t>
            </a:r>
            <a:r>
              <a:rPr lang="en-IN" b="1" dirty="0"/>
              <a:t>“</a:t>
            </a:r>
            <a:r>
              <a:rPr lang="en-IN" sz="2400" b="1" i="1" dirty="0">
                <a:solidFill>
                  <a:srgbClr val="DF8C8C"/>
                </a:solidFill>
              </a:rPr>
              <a:t>reading information” to “interacting with and using information effectively</a:t>
            </a:r>
            <a:r>
              <a:rPr lang="en-IN" b="1" dirty="0"/>
              <a:t>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61" y="540090"/>
            <a:ext cx="8825023" cy="649671"/>
          </a:xfrm>
        </p:spPr>
        <p:txBody>
          <a:bodyPr/>
          <a:lstStyle/>
          <a:p>
            <a:r>
              <a:rPr lang="en-IN" cap="none" dirty="0"/>
              <a:t>Quick Questions</a:t>
            </a:r>
            <a:endParaRPr lang="en-US" cap="none" dirty="0"/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422BEE-EF39-FA3F-2810-059EB28E4B1F}"/>
              </a:ext>
            </a:extLst>
          </p:cNvPr>
          <p:cNvSpPr txBox="1"/>
          <p:nvPr/>
        </p:nvSpPr>
        <p:spPr>
          <a:xfrm>
            <a:off x="899781" y="1365753"/>
            <a:ext cx="85990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arenR"/>
            </a:pPr>
            <a:r>
              <a:rPr lang="en-IN" b="1" dirty="0"/>
              <a:t>What is the main purpose of NotebookLM?</a:t>
            </a:r>
            <a:r>
              <a:rPr lang="en-IN" dirty="0"/>
              <a:t> </a:t>
            </a:r>
          </a:p>
          <a:p>
            <a:pPr marL="342900" lvl="0" indent="-342900">
              <a:buFont typeface="+mj-lt"/>
              <a:buAutoNum type="arabicParenR"/>
            </a:pP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IN" b="1" dirty="0"/>
              <a:t>What is the difference between NotebookLM and a normal chatbot?</a:t>
            </a:r>
            <a:r>
              <a:rPr lang="en-IN" dirty="0"/>
              <a:t> </a:t>
            </a:r>
          </a:p>
          <a:p>
            <a:pPr marL="342900" lvl="0" indent="-342900">
              <a:buFont typeface="+mj-lt"/>
              <a:buAutoNum type="arabicParenR"/>
            </a:pPr>
            <a:endParaRPr lang="en-IN" b="1" dirty="0"/>
          </a:p>
          <a:p>
            <a:pPr marL="342900" lvl="0" indent="-342900">
              <a:buFont typeface="+mj-lt"/>
              <a:buAutoNum type="arabicParenR"/>
            </a:pPr>
            <a:r>
              <a:rPr lang="en-IN" b="1" dirty="0"/>
              <a:t>What happens when you upload multiple sources to NotebookLM?</a:t>
            </a:r>
            <a:r>
              <a:rPr lang="en-IN" dirty="0"/>
              <a:t> </a:t>
            </a:r>
          </a:p>
          <a:p>
            <a:pPr marL="342900" lvl="0" indent="-342900">
              <a:buFont typeface="+mj-lt"/>
              <a:buAutoNum type="arabicParenR"/>
            </a:pPr>
            <a:endParaRPr lang="en-IN" b="1" dirty="0"/>
          </a:p>
          <a:p>
            <a:pPr marL="342900" lvl="0" indent="-342900">
              <a:buFont typeface="+mj-lt"/>
              <a:buAutoNum type="arabicParenR"/>
            </a:pPr>
            <a:r>
              <a:rPr lang="en-IN" b="1" dirty="0"/>
              <a:t>Can NotebookLM help you compare two documents?</a:t>
            </a:r>
            <a:r>
              <a:rPr lang="en-IN" dirty="0"/>
              <a:t> </a:t>
            </a:r>
          </a:p>
          <a:p>
            <a:pPr marL="342900" lvl="0" indent="-342900">
              <a:buFont typeface="+mj-lt"/>
              <a:buAutoNum type="arabicParenR"/>
            </a:pPr>
            <a:endParaRPr lang="en-IN" b="1" dirty="0"/>
          </a:p>
          <a:p>
            <a:pPr marL="342900" lvl="0" indent="-342900">
              <a:buFont typeface="+mj-lt"/>
              <a:buAutoNum type="arabicParenR"/>
            </a:pPr>
            <a:r>
              <a:rPr lang="en-IN" b="1" dirty="0"/>
              <a:t>How can you verify whether an answer is supported by your source?</a:t>
            </a:r>
            <a:r>
              <a:rPr lang="en-IN" dirty="0"/>
              <a:t> </a:t>
            </a:r>
          </a:p>
          <a:p>
            <a:pPr marL="342900" lvl="0" indent="-342900">
              <a:buFont typeface="+mj-lt"/>
              <a:buAutoNum type="arabicParenR"/>
            </a:pPr>
            <a:endParaRPr lang="en-IN" b="1" dirty="0"/>
          </a:p>
          <a:p>
            <a:pPr marL="342900" lvl="0" indent="-342900">
              <a:buFont typeface="+mj-lt"/>
              <a:buAutoNum type="arabicParenR"/>
            </a:pPr>
            <a:r>
              <a:rPr lang="en-IN" b="1" dirty="0"/>
              <a:t>Can NotebookLM generate study notes from your sources?</a:t>
            </a:r>
            <a:r>
              <a:rPr lang="en-IN" dirty="0"/>
              <a:t> </a:t>
            </a:r>
          </a:p>
          <a:p>
            <a:pPr marL="342900" lvl="0" indent="-342900">
              <a:buFont typeface="+mj-lt"/>
              <a:buAutoNum type="arabicParenR"/>
            </a:pPr>
            <a:endParaRPr lang="en-IN" b="1" dirty="0"/>
          </a:p>
          <a:p>
            <a:pPr marL="342900" lvl="0" indent="-342900">
              <a:buFont typeface="+mj-lt"/>
              <a:buAutoNum type="arabicParenR"/>
            </a:pPr>
            <a:r>
              <a:rPr lang="en-IN" b="1" dirty="0"/>
              <a:t>What can you do with a newsletter using NotebookLM?</a:t>
            </a:r>
            <a:r>
              <a:rPr lang="en-IN" dirty="0"/>
              <a:t> </a:t>
            </a:r>
          </a:p>
          <a:p>
            <a:pPr marL="342900" lvl="0" indent="-342900">
              <a:buFont typeface="+mj-lt"/>
              <a:buAutoNum type="arabicParenR"/>
            </a:pPr>
            <a:endParaRPr lang="en-IN" b="1" dirty="0"/>
          </a:p>
          <a:p>
            <a:pPr marL="342900" lvl="0" indent="-342900">
              <a:buFont typeface="+mj-lt"/>
              <a:buAutoNum type="arabicParenR"/>
            </a:pPr>
            <a:r>
              <a:rPr lang="en-IN" b="1" dirty="0"/>
              <a:t>Can NotebookLM help generate social media post ideas?</a:t>
            </a:r>
            <a:r>
              <a:rPr lang="en-IN" dirty="0"/>
              <a:t> </a:t>
            </a:r>
          </a:p>
          <a:p>
            <a:pPr marL="342900" lvl="0" indent="-342900">
              <a:buFont typeface="+mj-lt"/>
              <a:buAutoNum type="arabicParenR"/>
            </a:pPr>
            <a:endParaRPr lang="en-IN" b="1" dirty="0"/>
          </a:p>
          <a:p>
            <a:pPr marL="342900" lvl="0" indent="-342900">
              <a:buFont typeface="+mj-lt"/>
              <a:buAutoNum type="arabicParenR"/>
            </a:pPr>
            <a:r>
              <a:rPr lang="en-IN" b="1" dirty="0"/>
              <a:t>Can you use NotebookLM to find important dates from a document?</a:t>
            </a:r>
            <a:r>
              <a:rPr lang="en-IN" dirty="0"/>
              <a:t> </a:t>
            </a:r>
          </a:p>
          <a:p>
            <a:pPr marL="342900" lvl="0" indent="-342900">
              <a:buFont typeface="+mj-lt"/>
              <a:buAutoNum type="arabicParenR"/>
            </a:pPr>
            <a:endParaRPr lang="en-IN" b="1" dirty="0"/>
          </a:p>
          <a:p>
            <a:pPr marL="342900" lvl="0" indent="-342900">
              <a:buFont typeface="+mj-lt"/>
              <a:buAutoNum type="arabicParenR"/>
            </a:pPr>
            <a:r>
              <a:rPr lang="en-IN" b="1" dirty="0"/>
              <a:t>Can NotebookLM work with more than one source at the same time?</a:t>
            </a:r>
            <a:r>
              <a:rPr lang="en-IN" dirty="0"/>
              <a:t> </a:t>
            </a:r>
          </a:p>
          <a:p>
            <a:pPr marL="342900" lvl="0" indent="-342900">
              <a:buFont typeface="+mj-lt"/>
              <a:buAutoNum type="arabicParenR"/>
            </a:pPr>
            <a:endParaRPr lang="en-IN" dirty="0"/>
          </a:p>
          <a:p>
            <a:pPr marL="342900" lvl="0" indent="-342900">
              <a:buFont typeface="+mj-lt"/>
              <a:buAutoNum type="arabicParenR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43A5D-1AD8-9D22-EC10-C50C6F3D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76BD0C-8843-E6C3-CAAC-2101B771C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158" y="2820069"/>
            <a:ext cx="7631709" cy="1091627"/>
          </a:xfrm>
        </p:spPr>
        <p:txBody>
          <a:bodyPr/>
          <a:lstStyle/>
          <a:p>
            <a:r>
              <a:rPr lang="en-US" dirty="0"/>
              <a:t>Q&amp;A 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E67B0C4B-EE64-CCEF-3243-DF4FAFCC53C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</p:spTree>
    <p:extLst>
      <p:ext uri="{BB962C8B-B14F-4D97-AF65-F5344CB8AC3E}">
        <p14:creationId xmlns:p14="http://schemas.microsoft.com/office/powerpoint/2010/main" val="1075525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6932427" cy="272770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{741EE8B0-08BB-4DCB-AE63-886D7C76DCE7}TF8a9b5915-b8c7-461e-8cdd-693d48b5e32371f7b7e2_win32-4bf0b9a2ea37</Template>
  <TotalTime>1407</TotalTime>
  <Words>415</Words>
  <Application>Microsoft Office PowerPoint</Application>
  <PresentationFormat>Widescreen</PresentationFormat>
  <Paragraphs>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Custom</vt:lpstr>
      <vt:lpstr>PowerPoint Presentation</vt:lpstr>
      <vt:lpstr>Agenda</vt:lpstr>
      <vt:lpstr>Let’s Get Started</vt:lpstr>
      <vt:lpstr>What Is NotebookLM</vt:lpstr>
      <vt:lpstr>Adding Knowledge Sources</vt:lpstr>
      <vt:lpstr>Analysing Pdfs With Notebooklm</vt:lpstr>
      <vt:lpstr>Generating Social Media Posts</vt:lpstr>
      <vt:lpstr>Summarizing A Newsletter With Notebooklm</vt:lpstr>
      <vt:lpstr>Conclusions</vt:lpstr>
      <vt:lpstr>Quick Questions</vt:lpstr>
      <vt:lpstr>Q&amp;A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Suresh Kumar</dc:creator>
  <cp:lastModifiedBy>Suresh Kumar</cp:lastModifiedBy>
  <cp:revision>35</cp:revision>
  <dcterms:created xsi:type="dcterms:W3CDTF">2026-08-05T17:25:34Z</dcterms:created>
  <dcterms:modified xsi:type="dcterms:W3CDTF">2026-08-18T04:55:51Z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